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00" t="0" r="-89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51538" y="1028700"/>
            <a:ext cx="507762" cy="308350"/>
          </a:xfrm>
          <a:custGeom>
            <a:avLst/>
            <a:gdLst/>
            <a:ahLst/>
            <a:cxnLst/>
            <a:rect r="r" b="b" t="t" l="l"/>
            <a:pathLst>
              <a:path h="308350" w="507762">
                <a:moveTo>
                  <a:pt x="0" y="0"/>
                </a:moveTo>
                <a:lnTo>
                  <a:pt x="507762" y="0"/>
                </a:lnTo>
                <a:lnTo>
                  <a:pt x="507762" y="308350"/>
                </a:lnTo>
                <a:lnTo>
                  <a:pt x="0" y="308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8230" y="6208815"/>
            <a:ext cx="2967069" cy="807119"/>
            <a:chOff x="0" y="0"/>
            <a:chExt cx="418225" cy="113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225" cy="113768"/>
            </a:xfrm>
            <a:custGeom>
              <a:avLst/>
              <a:gdLst/>
              <a:ahLst/>
              <a:cxnLst/>
              <a:rect r="r" b="b" t="t" l="l"/>
              <a:pathLst>
                <a:path h="113768" w="418225">
                  <a:moveTo>
                    <a:pt x="56884" y="0"/>
                  </a:moveTo>
                  <a:lnTo>
                    <a:pt x="361341" y="0"/>
                  </a:lnTo>
                  <a:cubicBezTo>
                    <a:pt x="376427" y="0"/>
                    <a:pt x="390896" y="5993"/>
                    <a:pt x="401564" y="16661"/>
                  </a:cubicBezTo>
                  <a:cubicBezTo>
                    <a:pt x="412232" y="27329"/>
                    <a:pt x="418225" y="41797"/>
                    <a:pt x="418225" y="56884"/>
                  </a:cubicBezTo>
                  <a:lnTo>
                    <a:pt x="418225" y="56884"/>
                  </a:lnTo>
                  <a:cubicBezTo>
                    <a:pt x="418225" y="88300"/>
                    <a:pt x="392757" y="113768"/>
                    <a:pt x="361341" y="113768"/>
                  </a:cubicBezTo>
                  <a:lnTo>
                    <a:pt x="56884" y="113768"/>
                  </a:lnTo>
                  <a:cubicBezTo>
                    <a:pt x="25468" y="113768"/>
                    <a:pt x="0" y="88300"/>
                    <a:pt x="0" y="56884"/>
                  </a:cubicBezTo>
                  <a:lnTo>
                    <a:pt x="0" y="56884"/>
                  </a:lnTo>
                  <a:cubicBezTo>
                    <a:pt x="0" y="25468"/>
                    <a:pt x="25468" y="0"/>
                    <a:pt x="56884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8225" cy="151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08892" y="6208815"/>
            <a:ext cx="807119" cy="80711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4990214" y="6480414"/>
            <a:ext cx="301625" cy="263922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88498" y="3271066"/>
            <a:ext cx="2632148" cy="2632148"/>
            <a:chOff x="0" y="0"/>
            <a:chExt cx="1652976" cy="16529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52976" cy="1652976"/>
            </a:xfrm>
            <a:custGeom>
              <a:avLst/>
              <a:gdLst/>
              <a:ahLst/>
              <a:cxnLst/>
              <a:rect r="r" b="b" t="t" l="l"/>
              <a:pathLst>
                <a:path h="1652976" w="1652976">
                  <a:moveTo>
                    <a:pt x="82265" y="0"/>
                  </a:moveTo>
                  <a:lnTo>
                    <a:pt x="1570711" y="0"/>
                  </a:lnTo>
                  <a:cubicBezTo>
                    <a:pt x="1616145" y="0"/>
                    <a:pt x="1652976" y="36831"/>
                    <a:pt x="1652976" y="82265"/>
                  </a:cubicBezTo>
                  <a:lnTo>
                    <a:pt x="1652976" y="1570711"/>
                  </a:lnTo>
                  <a:cubicBezTo>
                    <a:pt x="1652976" y="1616145"/>
                    <a:pt x="1616145" y="1652976"/>
                    <a:pt x="1570711" y="1652976"/>
                  </a:cubicBezTo>
                  <a:lnTo>
                    <a:pt x="82265" y="1652976"/>
                  </a:lnTo>
                  <a:cubicBezTo>
                    <a:pt x="36831" y="1652976"/>
                    <a:pt x="0" y="1616145"/>
                    <a:pt x="0" y="1570711"/>
                  </a:cubicBezTo>
                  <a:lnTo>
                    <a:pt x="0" y="82265"/>
                  </a:lnTo>
                  <a:cubicBezTo>
                    <a:pt x="0" y="36831"/>
                    <a:pt x="36831" y="0"/>
                    <a:pt x="8226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52976" cy="1691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46473" y="3424338"/>
            <a:ext cx="2316198" cy="2325603"/>
            <a:chOff x="0" y="0"/>
            <a:chExt cx="404756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4756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56">
                  <a:moveTo>
                    <a:pt x="76878" y="0"/>
                  </a:moveTo>
                  <a:lnTo>
                    <a:pt x="327879" y="0"/>
                  </a:lnTo>
                  <a:cubicBezTo>
                    <a:pt x="370337" y="0"/>
                    <a:pt x="404756" y="34419"/>
                    <a:pt x="404756" y="76878"/>
                  </a:cubicBezTo>
                  <a:lnTo>
                    <a:pt x="404756" y="329522"/>
                  </a:lnTo>
                  <a:cubicBezTo>
                    <a:pt x="404756" y="371981"/>
                    <a:pt x="370337" y="406400"/>
                    <a:pt x="327879" y="406400"/>
                  </a:cubicBezTo>
                  <a:lnTo>
                    <a:pt x="76878" y="406400"/>
                  </a:lnTo>
                  <a:cubicBezTo>
                    <a:pt x="34419" y="406400"/>
                    <a:pt x="0" y="371981"/>
                    <a:pt x="0" y="329522"/>
                  </a:cubicBezTo>
                  <a:lnTo>
                    <a:pt x="0" y="76878"/>
                  </a:lnTo>
                  <a:cubicBezTo>
                    <a:pt x="0" y="34419"/>
                    <a:pt x="34419" y="0"/>
                    <a:pt x="76878" y="0"/>
                  </a:cubicBezTo>
                  <a:close/>
                </a:path>
              </a:pathLst>
            </a:custGeom>
            <a:blipFill>
              <a:blip r:embed="rId5"/>
              <a:stretch>
                <a:fillRect l="-203" t="0" r="-203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1184083">
            <a:off x="6921658" y="6179923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27823" y="2090956"/>
            <a:ext cx="9541450" cy="235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570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Cashback com validade de 30 dias é suficiente para todos os clientes?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48230" y="4878837"/>
            <a:ext cx="8855193" cy="118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ise de segmentação RFM aplicada à política de cashback no varejo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Willian S. Pereira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98434" y="6337737"/>
            <a:ext cx="2466661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Start 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51538" y="1028700"/>
            <a:ext cx="507762" cy="308350"/>
          </a:xfrm>
          <a:custGeom>
            <a:avLst/>
            <a:gdLst/>
            <a:ahLst/>
            <a:cxnLst/>
            <a:rect r="r" b="b" t="t" l="l"/>
            <a:pathLst>
              <a:path h="308350" w="507762">
                <a:moveTo>
                  <a:pt x="0" y="0"/>
                </a:moveTo>
                <a:lnTo>
                  <a:pt x="507762" y="0"/>
                </a:lnTo>
                <a:lnTo>
                  <a:pt x="507762" y="308350"/>
                </a:lnTo>
                <a:lnTo>
                  <a:pt x="0" y="308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184083">
            <a:off x="4621206" y="3563465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5755536" y="6731622"/>
                </a:moveTo>
                <a:lnTo>
                  <a:pt x="0" y="6731622"/>
                </a:lnTo>
                <a:lnTo>
                  <a:pt x="0" y="0"/>
                </a:lnTo>
                <a:lnTo>
                  <a:pt x="5755536" y="0"/>
                </a:lnTo>
                <a:lnTo>
                  <a:pt x="5755536" y="6731622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02181" y="2881474"/>
            <a:ext cx="9748881" cy="3345204"/>
          </a:xfrm>
          <a:custGeom>
            <a:avLst/>
            <a:gdLst/>
            <a:ahLst/>
            <a:cxnLst/>
            <a:rect r="r" b="b" t="t" l="l"/>
            <a:pathLst>
              <a:path h="3345204" w="9748881">
                <a:moveTo>
                  <a:pt x="0" y="0"/>
                </a:moveTo>
                <a:lnTo>
                  <a:pt x="9748881" y="0"/>
                </a:lnTo>
                <a:lnTo>
                  <a:pt x="9748881" y="3345204"/>
                </a:lnTo>
                <a:lnTo>
                  <a:pt x="0" y="33452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Willian S. Pereira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2752" y="2929099"/>
            <a:ext cx="6669234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 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2752" y="4153449"/>
            <a:ext cx="5700495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Contexto: Varejo com cashback de validade fixa de 30 dias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Problema: Clientes com ciclos de recompra &gt;30 dias perdem o benefício</a:t>
            </a:r>
          </a:p>
          <a:p>
            <a:pPr algn="just">
              <a:lnSpc>
                <a:spcPts val="34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72752" y="6440326"/>
            <a:ext cx="946997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Pergunta: "Como personalizar a validade para reduzir desperdício?"</a:t>
            </a:r>
          </a:p>
          <a:p>
            <a:pPr algn="just">
              <a:lnSpc>
                <a:spcPts val="340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51538" y="1028700"/>
            <a:ext cx="507762" cy="308350"/>
          </a:xfrm>
          <a:custGeom>
            <a:avLst/>
            <a:gdLst/>
            <a:ahLst/>
            <a:cxnLst/>
            <a:rect r="r" b="b" t="t" l="l"/>
            <a:pathLst>
              <a:path h="308350" w="507762">
                <a:moveTo>
                  <a:pt x="0" y="0"/>
                </a:moveTo>
                <a:lnTo>
                  <a:pt x="507762" y="0"/>
                </a:lnTo>
                <a:lnTo>
                  <a:pt x="507762" y="308350"/>
                </a:lnTo>
                <a:lnTo>
                  <a:pt x="0" y="308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44061" y="1943224"/>
            <a:ext cx="5466612" cy="8343776"/>
          </a:xfrm>
          <a:custGeom>
            <a:avLst/>
            <a:gdLst/>
            <a:ahLst/>
            <a:cxnLst/>
            <a:rect r="r" b="b" t="t" l="l"/>
            <a:pathLst>
              <a:path h="8343776" w="5466612">
                <a:moveTo>
                  <a:pt x="0" y="0"/>
                </a:moveTo>
                <a:lnTo>
                  <a:pt x="5466611" y="0"/>
                </a:lnTo>
                <a:lnTo>
                  <a:pt x="5466611" y="8343776"/>
                </a:lnTo>
                <a:lnTo>
                  <a:pt x="0" y="8343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7095" y="3998031"/>
            <a:ext cx="2076614" cy="578537"/>
            <a:chOff x="0" y="0"/>
            <a:chExt cx="292710" cy="815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710" cy="81548"/>
            </a:xfrm>
            <a:custGeom>
              <a:avLst/>
              <a:gdLst/>
              <a:ahLst/>
              <a:cxnLst/>
              <a:rect r="r" b="b" t="t" l="l"/>
              <a:pathLst>
                <a:path h="81548" w="292710">
                  <a:moveTo>
                    <a:pt x="40774" y="0"/>
                  </a:moveTo>
                  <a:lnTo>
                    <a:pt x="251936" y="0"/>
                  </a:lnTo>
                  <a:cubicBezTo>
                    <a:pt x="274455" y="0"/>
                    <a:pt x="292710" y="18255"/>
                    <a:pt x="292710" y="40774"/>
                  </a:cubicBezTo>
                  <a:lnTo>
                    <a:pt x="292710" y="40774"/>
                  </a:lnTo>
                  <a:cubicBezTo>
                    <a:pt x="292710" y="63293"/>
                    <a:pt x="274455" y="81548"/>
                    <a:pt x="251936" y="81548"/>
                  </a:cubicBezTo>
                  <a:lnTo>
                    <a:pt x="40774" y="81548"/>
                  </a:lnTo>
                  <a:cubicBezTo>
                    <a:pt x="18255" y="81548"/>
                    <a:pt x="0" y="63293"/>
                    <a:pt x="0" y="40774"/>
                  </a:cubicBezTo>
                  <a:lnTo>
                    <a:pt x="0" y="40774"/>
                  </a:lnTo>
                  <a:cubicBezTo>
                    <a:pt x="0" y="18255"/>
                    <a:pt x="18255" y="0"/>
                    <a:pt x="40774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2710" cy="11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095" y="5106789"/>
            <a:ext cx="2076614" cy="578537"/>
            <a:chOff x="0" y="0"/>
            <a:chExt cx="292710" cy="815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710" cy="81548"/>
            </a:xfrm>
            <a:custGeom>
              <a:avLst/>
              <a:gdLst/>
              <a:ahLst/>
              <a:cxnLst/>
              <a:rect r="r" b="b" t="t" l="l"/>
              <a:pathLst>
                <a:path h="81548" w="292710">
                  <a:moveTo>
                    <a:pt x="40774" y="0"/>
                  </a:moveTo>
                  <a:lnTo>
                    <a:pt x="251936" y="0"/>
                  </a:lnTo>
                  <a:cubicBezTo>
                    <a:pt x="274455" y="0"/>
                    <a:pt x="292710" y="18255"/>
                    <a:pt x="292710" y="40774"/>
                  </a:cubicBezTo>
                  <a:lnTo>
                    <a:pt x="292710" y="40774"/>
                  </a:lnTo>
                  <a:cubicBezTo>
                    <a:pt x="292710" y="63293"/>
                    <a:pt x="274455" y="81548"/>
                    <a:pt x="251936" y="81548"/>
                  </a:cubicBezTo>
                  <a:lnTo>
                    <a:pt x="40774" y="81548"/>
                  </a:lnTo>
                  <a:cubicBezTo>
                    <a:pt x="18255" y="81548"/>
                    <a:pt x="0" y="63293"/>
                    <a:pt x="0" y="40774"/>
                  </a:cubicBezTo>
                  <a:lnTo>
                    <a:pt x="0" y="40774"/>
                  </a:lnTo>
                  <a:cubicBezTo>
                    <a:pt x="0" y="18255"/>
                    <a:pt x="18255" y="0"/>
                    <a:pt x="40774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92710" cy="11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1184083">
            <a:off x="11564967" y="-3218375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6706" y="7293714"/>
            <a:ext cx="2076614" cy="578537"/>
            <a:chOff x="0" y="0"/>
            <a:chExt cx="292710" cy="81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710" cy="81548"/>
            </a:xfrm>
            <a:custGeom>
              <a:avLst/>
              <a:gdLst/>
              <a:ahLst/>
              <a:cxnLst/>
              <a:rect r="r" b="b" t="t" l="l"/>
              <a:pathLst>
                <a:path h="81548" w="292710">
                  <a:moveTo>
                    <a:pt x="40774" y="0"/>
                  </a:moveTo>
                  <a:lnTo>
                    <a:pt x="251936" y="0"/>
                  </a:lnTo>
                  <a:cubicBezTo>
                    <a:pt x="274455" y="0"/>
                    <a:pt x="292710" y="18255"/>
                    <a:pt x="292710" y="40774"/>
                  </a:cubicBezTo>
                  <a:lnTo>
                    <a:pt x="292710" y="40774"/>
                  </a:lnTo>
                  <a:cubicBezTo>
                    <a:pt x="292710" y="63293"/>
                    <a:pt x="274455" y="81548"/>
                    <a:pt x="251936" y="81548"/>
                  </a:cubicBezTo>
                  <a:lnTo>
                    <a:pt x="40774" y="81548"/>
                  </a:lnTo>
                  <a:cubicBezTo>
                    <a:pt x="18255" y="81548"/>
                    <a:pt x="0" y="63293"/>
                    <a:pt x="0" y="40774"/>
                  </a:cubicBezTo>
                  <a:lnTo>
                    <a:pt x="0" y="40774"/>
                  </a:lnTo>
                  <a:cubicBezTo>
                    <a:pt x="0" y="18255"/>
                    <a:pt x="18255" y="0"/>
                    <a:pt x="40774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2710" cy="11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Willian S. Pereira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6896" y="2338370"/>
            <a:ext cx="685609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Solução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3510" y="3866645"/>
            <a:ext cx="501087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Online Retail II (+1M linhas) </a:t>
            </a:r>
          </a:p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     + feature engineering de cashback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70773" y="4079337"/>
            <a:ext cx="114847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43510" y="5014407"/>
            <a:ext cx="5448622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Matriz RxF (Recency × Frequency)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Por quê? Foco em comportamento temporal, não valor monetário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3 Segmentos: Recorrentes, Ocasionais, Dormentes</a:t>
            </a:r>
          </a:p>
          <a:p>
            <a:pPr algn="just">
              <a:lnSpc>
                <a:spcPts val="34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679034" y="5188095"/>
            <a:ext cx="187273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9709" y="7380776"/>
            <a:ext cx="1510607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43510" y="7169889"/>
            <a:ext cx="5448622" cy="171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Python (pandas, plotly)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SQL (DuckDB)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Power BI (dashboard interativo)</a:t>
            </a:r>
          </a:p>
          <a:p>
            <a:pPr algn="just">
              <a:lnSpc>
                <a:spcPts val="3400"/>
              </a:lnSpc>
            </a:p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51538" y="1028700"/>
            <a:ext cx="507762" cy="308350"/>
          </a:xfrm>
          <a:custGeom>
            <a:avLst/>
            <a:gdLst/>
            <a:ahLst/>
            <a:cxnLst/>
            <a:rect r="r" b="b" t="t" l="l"/>
            <a:pathLst>
              <a:path h="308350" w="507762">
                <a:moveTo>
                  <a:pt x="0" y="0"/>
                </a:moveTo>
                <a:lnTo>
                  <a:pt x="507762" y="0"/>
                </a:lnTo>
                <a:lnTo>
                  <a:pt x="507762" y="308350"/>
                </a:lnTo>
                <a:lnTo>
                  <a:pt x="0" y="308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184083">
            <a:off x="4621206" y="3563465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5755536" y="6731622"/>
                </a:moveTo>
                <a:lnTo>
                  <a:pt x="0" y="6731622"/>
                </a:lnTo>
                <a:lnTo>
                  <a:pt x="0" y="0"/>
                </a:lnTo>
                <a:lnTo>
                  <a:pt x="5755536" y="0"/>
                </a:lnTo>
                <a:lnTo>
                  <a:pt x="5755536" y="6731622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98974" y="3921125"/>
            <a:ext cx="10373286" cy="2848756"/>
            <a:chOff x="0" y="0"/>
            <a:chExt cx="1788954" cy="491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88954" cy="491290"/>
            </a:xfrm>
            <a:custGeom>
              <a:avLst/>
              <a:gdLst/>
              <a:ahLst/>
              <a:cxnLst/>
              <a:rect r="r" b="b" t="t" l="l"/>
              <a:pathLst>
                <a:path h="491290" w="1788954">
                  <a:moveTo>
                    <a:pt x="17166" y="0"/>
                  </a:moveTo>
                  <a:lnTo>
                    <a:pt x="1771789" y="0"/>
                  </a:lnTo>
                  <a:cubicBezTo>
                    <a:pt x="1776341" y="0"/>
                    <a:pt x="1780707" y="1809"/>
                    <a:pt x="1783927" y="5028"/>
                  </a:cubicBezTo>
                  <a:cubicBezTo>
                    <a:pt x="1787146" y="8247"/>
                    <a:pt x="1788954" y="12613"/>
                    <a:pt x="1788954" y="17166"/>
                  </a:cubicBezTo>
                  <a:lnTo>
                    <a:pt x="1788954" y="474125"/>
                  </a:lnTo>
                  <a:cubicBezTo>
                    <a:pt x="1788954" y="478677"/>
                    <a:pt x="1787146" y="483043"/>
                    <a:pt x="1783927" y="486263"/>
                  </a:cubicBezTo>
                  <a:cubicBezTo>
                    <a:pt x="1780707" y="489482"/>
                    <a:pt x="1776341" y="491290"/>
                    <a:pt x="1771789" y="491290"/>
                  </a:cubicBezTo>
                  <a:lnTo>
                    <a:pt x="17166" y="491290"/>
                  </a:lnTo>
                  <a:cubicBezTo>
                    <a:pt x="12613" y="491290"/>
                    <a:pt x="8247" y="489482"/>
                    <a:pt x="5028" y="486263"/>
                  </a:cubicBezTo>
                  <a:cubicBezTo>
                    <a:pt x="1809" y="483043"/>
                    <a:pt x="0" y="478677"/>
                    <a:pt x="0" y="474125"/>
                  </a:cubicBezTo>
                  <a:lnTo>
                    <a:pt x="0" y="17166"/>
                  </a:lnTo>
                  <a:cubicBezTo>
                    <a:pt x="0" y="12613"/>
                    <a:pt x="1809" y="8247"/>
                    <a:pt x="5028" y="5028"/>
                  </a:cubicBezTo>
                  <a:cubicBezTo>
                    <a:pt x="8247" y="1809"/>
                    <a:pt x="12613" y="0"/>
                    <a:pt x="1716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2233" r="0" b="-1223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Willian S. Pereira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4647"/>
            <a:ext cx="7978125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Demonstração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1707" y="3797300"/>
            <a:ext cx="5700495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IA segmentação funcionou — os 3 grupos têm ciclos de recompra distintos. Recorrentes concentram em &lt;50 dias, Ocasionais distribuem entre 30-200 dias, Dormentes são irregulares.</a:t>
            </a:r>
          </a:p>
          <a:p>
            <a:pPr algn="just">
              <a:lnSpc>
                <a:spcPts val="34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98974" y="7070995"/>
            <a:ext cx="694900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Conclusão: "Uma validade única de 30 dias não faz sentido para todos os perfis"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51538" y="1028700"/>
            <a:ext cx="507762" cy="308350"/>
          </a:xfrm>
          <a:custGeom>
            <a:avLst/>
            <a:gdLst/>
            <a:ahLst/>
            <a:cxnLst/>
            <a:rect r="r" b="b" t="t" l="l"/>
            <a:pathLst>
              <a:path h="308350" w="507762">
                <a:moveTo>
                  <a:pt x="0" y="0"/>
                </a:moveTo>
                <a:lnTo>
                  <a:pt x="507762" y="0"/>
                </a:lnTo>
                <a:lnTo>
                  <a:pt x="507762" y="308350"/>
                </a:lnTo>
                <a:lnTo>
                  <a:pt x="0" y="308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84083">
            <a:off x="1691341" y="-1403373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Willian S. Pereira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24806"/>
            <a:ext cx="7999142" cy="194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&amp; Recomendações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89413" y="3612654"/>
            <a:ext cx="14309174" cy="3449602"/>
            <a:chOff x="0" y="0"/>
            <a:chExt cx="2466177" cy="594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6177" cy="594537"/>
            </a:xfrm>
            <a:custGeom>
              <a:avLst/>
              <a:gdLst/>
              <a:ahLst/>
              <a:cxnLst/>
              <a:rect r="r" b="b" t="t" l="l"/>
              <a:pathLst>
                <a:path h="594537" w="2466177">
                  <a:moveTo>
                    <a:pt x="12444" y="0"/>
                  </a:moveTo>
                  <a:lnTo>
                    <a:pt x="2453733" y="0"/>
                  </a:lnTo>
                  <a:cubicBezTo>
                    <a:pt x="2457033" y="0"/>
                    <a:pt x="2460198" y="1311"/>
                    <a:pt x="2462532" y="3645"/>
                  </a:cubicBezTo>
                  <a:cubicBezTo>
                    <a:pt x="2464866" y="5978"/>
                    <a:pt x="2466177" y="9144"/>
                    <a:pt x="2466177" y="12444"/>
                  </a:cubicBezTo>
                  <a:lnTo>
                    <a:pt x="2466177" y="582093"/>
                  </a:lnTo>
                  <a:cubicBezTo>
                    <a:pt x="2466177" y="588965"/>
                    <a:pt x="2460605" y="594537"/>
                    <a:pt x="2453733" y="594537"/>
                  </a:cubicBezTo>
                  <a:lnTo>
                    <a:pt x="12444" y="594537"/>
                  </a:lnTo>
                  <a:cubicBezTo>
                    <a:pt x="9144" y="594537"/>
                    <a:pt x="5978" y="593226"/>
                    <a:pt x="3645" y="590892"/>
                  </a:cubicBezTo>
                  <a:cubicBezTo>
                    <a:pt x="1311" y="588558"/>
                    <a:pt x="0" y="585393"/>
                    <a:pt x="0" y="582093"/>
                  </a:cubicBezTo>
                  <a:lnTo>
                    <a:pt x="0" y="12444"/>
                  </a:lnTo>
                  <a:cubicBezTo>
                    <a:pt x="0" y="9144"/>
                    <a:pt x="1311" y="5978"/>
                    <a:pt x="3645" y="3645"/>
                  </a:cubicBezTo>
                  <a:cubicBezTo>
                    <a:pt x="5978" y="1311"/>
                    <a:pt x="9144" y="0"/>
                    <a:pt x="1244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7318" r="0" b="-731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7444971"/>
            <a:ext cx="3845265" cy="1813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1"/>
              </a:lnSpc>
            </a:pPr>
            <a:r>
              <a:rPr lang="en-US" sz="1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Recorrentes: Maior perda absoluta (R$ 617k). Extensão para 60 dias recupera 83 clientes com eficiência de 57,6pp — a mais alta da análise. Recomendação: 60 dias.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05209" y="7444971"/>
            <a:ext cx="3845265" cy="1813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1"/>
              </a:lnSpc>
            </a:pPr>
            <a:r>
              <a:rPr lang="en-US" sz="1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Ocasionais: Maior perda relativa (45,5%). Extensão para 60 dias recupera 133 clientes e ~R$ 79k com melhor custo-benefício. Recomendação: 60 dias.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4035" y="7444971"/>
            <a:ext cx="3845265" cy="1813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1"/>
              </a:lnSpc>
            </a:pPr>
            <a:r>
              <a:rPr lang="en-US" sz="16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Dormentes: Problema não é validade, é engajamento (mediana perda = 0%). ROI baixo. Recomendação: campanhas de reativação, não extensão de janela.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51538" y="1028700"/>
            <a:ext cx="507762" cy="308350"/>
          </a:xfrm>
          <a:custGeom>
            <a:avLst/>
            <a:gdLst/>
            <a:ahLst/>
            <a:cxnLst/>
            <a:rect r="r" b="b" t="t" l="l"/>
            <a:pathLst>
              <a:path h="308350" w="507762">
                <a:moveTo>
                  <a:pt x="0" y="0"/>
                </a:moveTo>
                <a:lnTo>
                  <a:pt x="507762" y="0"/>
                </a:lnTo>
                <a:lnTo>
                  <a:pt x="507762" y="308350"/>
                </a:lnTo>
                <a:lnTo>
                  <a:pt x="0" y="308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84083">
            <a:off x="1691341" y="-1403373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Willian S. Pereira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1049" y="3582101"/>
            <a:ext cx="6683326" cy="194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Aprendizados</a:t>
            </a:r>
          </a:p>
          <a:p>
            <a:pPr algn="l">
              <a:lnSpc>
                <a:spcPts val="72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334438" y="2353375"/>
            <a:ext cx="11020481" cy="3171125"/>
            <a:chOff x="0" y="0"/>
            <a:chExt cx="1707361" cy="4912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7361" cy="491290"/>
            </a:xfrm>
            <a:custGeom>
              <a:avLst/>
              <a:gdLst/>
              <a:ahLst/>
              <a:cxnLst/>
              <a:rect r="r" b="b" t="t" l="l"/>
              <a:pathLst>
                <a:path h="491290" w="1707361">
                  <a:moveTo>
                    <a:pt x="16158" y="0"/>
                  </a:moveTo>
                  <a:lnTo>
                    <a:pt x="1691203" y="0"/>
                  </a:lnTo>
                  <a:cubicBezTo>
                    <a:pt x="1695489" y="0"/>
                    <a:pt x="1699598" y="1702"/>
                    <a:pt x="1702628" y="4732"/>
                  </a:cubicBezTo>
                  <a:cubicBezTo>
                    <a:pt x="1705659" y="7763"/>
                    <a:pt x="1707361" y="11872"/>
                    <a:pt x="1707361" y="16158"/>
                  </a:cubicBezTo>
                  <a:lnTo>
                    <a:pt x="1707361" y="475133"/>
                  </a:lnTo>
                  <a:cubicBezTo>
                    <a:pt x="1707361" y="479418"/>
                    <a:pt x="1705659" y="483528"/>
                    <a:pt x="1702628" y="486558"/>
                  </a:cubicBezTo>
                  <a:cubicBezTo>
                    <a:pt x="1699598" y="489588"/>
                    <a:pt x="1695489" y="491290"/>
                    <a:pt x="1691203" y="491290"/>
                  </a:cubicBezTo>
                  <a:lnTo>
                    <a:pt x="16158" y="491290"/>
                  </a:lnTo>
                  <a:cubicBezTo>
                    <a:pt x="11872" y="491290"/>
                    <a:pt x="7763" y="489588"/>
                    <a:pt x="4732" y="486558"/>
                  </a:cubicBezTo>
                  <a:cubicBezTo>
                    <a:pt x="1702" y="483528"/>
                    <a:pt x="0" y="479418"/>
                    <a:pt x="0" y="475133"/>
                  </a:cubicBezTo>
                  <a:lnTo>
                    <a:pt x="0" y="16158"/>
                  </a:lnTo>
                  <a:cubicBezTo>
                    <a:pt x="0" y="11872"/>
                    <a:pt x="1702" y="7763"/>
                    <a:pt x="4732" y="4732"/>
                  </a:cubicBezTo>
                  <a:cubicBezTo>
                    <a:pt x="7763" y="1702"/>
                    <a:pt x="11872" y="0"/>
                    <a:pt x="1615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2737" r="0" b="-5273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1049" y="6419850"/>
            <a:ext cx="6949006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Desafio Principal: Simular regras de cashback realistas sobre dados públicos (Online Retail II) via feature engineering, mantendo integridade dos dados.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7945" y="6419850"/>
            <a:ext cx="6949006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Decisão Técnica Crítica: Escolher RxF em vez de RFM completo — porque a pergunta era sobre quando clientes voltam, não quanto gastam.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00" t="0" r="-89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51538" y="1028700"/>
            <a:ext cx="507762" cy="308350"/>
          </a:xfrm>
          <a:custGeom>
            <a:avLst/>
            <a:gdLst/>
            <a:ahLst/>
            <a:cxnLst/>
            <a:rect r="r" b="b" t="t" l="l"/>
            <a:pathLst>
              <a:path h="308350" w="507762">
                <a:moveTo>
                  <a:pt x="0" y="0"/>
                </a:moveTo>
                <a:lnTo>
                  <a:pt x="507762" y="0"/>
                </a:lnTo>
                <a:lnTo>
                  <a:pt x="507762" y="308350"/>
                </a:lnTo>
                <a:lnTo>
                  <a:pt x="0" y="308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Willian S. Pereira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184083">
            <a:off x="6266232" y="1272574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53752" y="3424399"/>
            <a:ext cx="8166308" cy="150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2"/>
              </a:lnSpc>
            </a:pPr>
            <a:r>
              <a:rPr lang="en-US" sz="1031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48310" y="2560493"/>
            <a:ext cx="2632148" cy="2632148"/>
            <a:chOff x="0" y="0"/>
            <a:chExt cx="1652976" cy="16529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2976" cy="1652976"/>
            </a:xfrm>
            <a:custGeom>
              <a:avLst/>
              <a:gdLst/>
              <a:ahLst/>
              <a:cxnLst/>
              <a:rect r="r" b="b" t="t" l="l"/>
              <a:pathLst>
                <a:path h="1652976" w="1652976">
                  <a:moveTo>
                    <a:pt x="82265" y="0"/>
                  </a:moveTo>
                  <a:lnTo>
                    <a:pt x="1570711" y="0"/>
                  </a:lnTo>
                  <a:cubicBezTo>
                    <a:pt x="1616145" y="0"/>
                    <a:pt x="1652976" y="36831"/>
                    <a:pt x="1652976" y="82265"/>
                  </a:cubicBezTo>
                  <a:lnTo>
                    <a:pt x="1652976" y="1570711"/>
                  </a:lnTo>
                  <a:cubicBezTo>
                    <a:pt x="1652976" y="1616145"/>
                    <a:pt x="1616145" y="1652976"/>
                    <a:pt x="1570711" y="1652976"/>
                  </a:cubicBezTo>
                  <a:lnTo>
                    <a:pt x="82265" y="1652976"/>
                  </a:lnTo>
                  <a:cubicBezTo>
                    <a:pt x="36831" y="1652976"/>
                    <a:pt x="0" y="1616145"/>
                    <a:pt x="0" y="1570711"/>
                  </a:cubicBezTo>
                  <a:lnTo>
                    <a:pt x="0" y="82265"/>
                  </a:lnTo>
                  <a:cubicBezTo>
                    <a:pt x="0" y="36831"/>
                    <a:pt x="36831" y="0"/>
                    <a:pt x="8226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52976" cy="1691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06285" y="2713765"/>
            <a:ext cx="2316198" cy="2325603"/>
            <a:chOff x="0" y="0"/>
            <a:chExt cx="404756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4756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56">
                  <a:moveTo>
                    <a:pt x="76878" y="0"/>
                  </a:moveTo>
                  <a:lnTo>
                    <a:pt x="327879" y="0"/>
                  </a:lnTo>
                  <a:cubicBezTo>
                    <a:pt x="370337" y="0"/>
                    <a:pt x="404756" y="34419"/>
                    <a:pt x="404756" y="76878"/>
                  </a:cubicBezTo>
                  <a:lnTo>
                    <a:pt x="404756" y="329522"/>
                  </a:lnTo>
                  <a:cubicBezTo>
                    <a:pt x="404756" y="371981"/>
                    <a:pt x="370337" y="406400"/>
                    <a:pt x="327879" y="406400"/>
                  </a:cubicBezTo>
                  <a:lnTo>
                    <a:pt x="76878" y="406400"/>
                  </a:lnTo>
                  <a:cubicBezTo>
                    <a:pt x="34419" y="406400"/>
                    <a:pt x="0" y="371981"/>
                    <a:pt x="0" y="329522"/>
                  </a:cubicBezTo>
                  <a:lnTo>
                    <a:pt x="0" y="76878"/>
                  </a:lnTo>
                  <a:cubicBezTo>
                    <a:pt x="0" y="34419"/>
                    <a:pt x="34419" y="0"/>
                    <a:pt x="76878" y="0"/>
                  </a:cubicBezTo>
                  <a:close/>
                </a:path>
              </a:pathLst>
            </a:custGeom>
            <a:blipFill>
              <a:blip r:embed="rId6"/>
              <a:stretch>
                <a:fillRect l="-25351" t="0" r="-2535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53752" y="4880974"/>
            <a:ext cx="509815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spc="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PELA SUA ATENÇÃO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DAHDtpv6V6k</dc:identifier>
  <dcterms:modified xsi:type="dcterms:W3CDTF">2011-08-01T06:04:30Z</dcterms:modified>
  <cp:revision>1</cp:revision>
  <dc:title>Análise de segmentação RFM aplicada à política de cashback no varejo</dc:title>
</cp:coreProperties>
</file>